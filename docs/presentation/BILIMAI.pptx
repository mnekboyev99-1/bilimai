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73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F00EED-88CB-446C-9F56-1060F5FDA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5896" y="4690872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ISBOTLI O‘QITISH TIZIMI</a:t>
            </a:r>
            <a:endParaRPr lang="en-US" sz="3400" b="1" dirty="0"/>
          </a:p>
        </p:txBody>
      </p:sp>
      <p:sp>
        <p:nvSpPr>
          <p:cNvPr id="6" name="Text 3"/>
          <p:cNvSpPr/>
          <p:nvPr/>
        </p:nvSpPr>
        <p:spPr>
          <a:xfrm>
            <a:off x="945896" y="554126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bilimni test qilmaymiz — </a:t>
            </a:r>
            <a:r>
              <a:rPr lang="en-US" sz="22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uni isbotlaymiz.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E8F857-E543-41F9-996A-A9BE7000C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2834640" cy="822960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530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KIMMIZ?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19072"/>
            <a:ext cx="4663440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399" y="1993392"/>
            <a:ext cx="478506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online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ta’lim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olishni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istovchilar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uchun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mavjud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materiallardan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yaratamiz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talabaning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nimani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haqiqatan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tushunganini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ko‘rsatamiz</a:t>
            </a:r>
            <a:r>
              <a:rPr lang="en-US" sz="29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7" name="Text 4"/>
          <p:cNvSpPr/>
          <p:nvPr/>
        </p:nvSpPr>
        <p:spPr>
          <a:xfrm>
            <a:off x="887323" y="4197096"/>
            <a:ext cx="490047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PDF, DOCX, PPTX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matndan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kontent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yaratadi</a:t>
            </a:r>
            <a:endParaRPr lang="en-US" sz="18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SHOGIRD AI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orqali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o‘rgatib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tushunganini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tekshiradi</a:t>
            </a:r>
            <a:endParaRPr lang="en-US" sz="18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MRI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orqali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xaritasidagi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bo‘shliqlarni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ko‘rsatadi</a:t>
            </a:r>
            <a:endParaRPr lang="en-US" sz="18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O‘qituvchi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talaba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ota-ona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uchun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alohida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beradi</a:t>
            </a:r>
            <a:endParaRPr lang="en-US" sz="18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D54424D-A1D4-4CAE-8F66-3F0EB9E2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120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MUAMMO: BILIM ILLYUZIYASI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31520" y="3950208"/>
            <a:ext cx="5029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6192" y="39136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Ko‘r-ko‘rona yodlash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32688" y="4407408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davrida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oddiy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test,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vazifasi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tayyor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javoblar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ishonchli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signal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emas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Talaba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topshiriqni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topshirishi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mumkin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lekin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mavzuni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tushunmagan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bo‘lishi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ham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mumkin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400800" y="3950208"/>
            <a:ext cx="508406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1968" y="391363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Shaffoflik yo‘qligi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675120" y="4407408"/>
            <a:ext cx="4526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O‘qituvchi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ham,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kompaniya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ham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o‘quvchining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qayerda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qiynalayotganini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ko‘rmaydi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Yakuniy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baho —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faqat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haqiqiy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ko‘nikmalar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emas</a:t>
            </a:r>
            <a:r>
              <a:rPr lang="en-US" sz="1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2697480" y="6227064"/>
            <a:ext cx="6784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Hozirgi format xavfli “bilim illyuziyasi”ni yaratadi.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B06D0C3-87EF-4974-8980-0A73294A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5303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HAJMI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7626096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99196" y="1768856"/>
            <a:ext cx="3657600" cy="81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Total Addressable Market - </a:t>
            </a:r>
            <a:r>
              <a:rPr lang="en-US" sz="1600" dirty="0" err="1"/>
              <a:t>Umumiy</a:t>
            </a:r>
            <a:r>
              <a:rPr lang="en-US" sz="1600" dirty="0"/>
              <a:t> </a:t>
            </a:r>
            <a:r>
              <a:rPr lang="en-US" sz="1600" dirty="0" err="1"/>
              <a:t>mavjud</a:t>
            </a:r>
            <a:r>
              <a:rPr lang="en-US" sz="1600" dirty="0"/>
              <a:t> </a:t>
            </a:r>
            <a:r>
              <a:rPr lang="en-US" sz="1600" dirty="0" err="1"/>
              <a:t>bozor</a:t>
            </a:r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r>
              <a:rPr lang="en-US" sz="1600" dirty="0" err="1"/>
              <a:t>Dunyo</a:t>
            </a:r>
            <a:r>
              <a:rPr lang="en-US" sz="1600" dirty="0"/>
              <a:t> </a:t>
            </a:r>
            <a:r>
              <a:rPr lang="en-US" sz="1600" dirty="0" err="1"/>
              <a:t>bo‘ylab</a:t>
            </a:r>
            <a:r>
              <a:rPr lang="en-US" sz="1600" dirty="0"/>
              <a:t> </a:t>
            </a:r>
            <a:r>
              <a:rPr lang="en-US" sz="1600" dirty="0" err="1"/>
              <a:t>universitet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oliy</a:t>
            </a:r>
            <a:r>
              <a:rPr lang="en-US" sz="1600" dirty="0"/>
              <a:t> </a:t>
            </a:r>
            <a:r>
              <a:rPr lang="en-US" sz="1600" dirty="0" err="1"/>
              <a:t>ta’limdagi</a:t>
            </a:r>
            <a:r>
              <a:rPr lang="en-US" sz="1600" dirty="0"/>
              <a:t> </a:t>
            </a:r>
            <a:r>
              <a:rPr lang="en-US" sz="1600" dirty="0" err="1"/>
              <a:t>o‘quvchilar</a:t>
            </a:r>
            <a:r>
              <a:rPr lang="en-US" sz="1600" dirty="0"/>
              <a:t>. Bu AI </a:t>
            </a:r>
            <a:r>
              <a:rPr lang="en-US" sz="1600" dirty="0" err="1"/>
              <a:t>bilan</a:t>
            </a:r>
            <a:r>
              <a:rPr lang="en-US" sz="1600" dirty="0"/>
              <a:t> </a:t>
            </a:r>
            <a:r>
              <a:rPr lang="en-US" sz="1600" dirty="0" err="1"/>
              <a:t>boyitilgan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natijasi</a:t>
            </a:r>
            <a:r>
              <a:rPr lang="en-US" sz="1600" dirty="0"/>
              <a:t> </a:t>
            </a:r>
            <a:r>
              <a:rPr lang="en-US" sz="1600" dirty="0" err="1"/>
              <a:t>o‘lchanadigan</a:t>
            </a:r>
            <a:r>
              <a:rPr lang="en-US" sz="1600" dirty="0"/>
              <a:t> </a:t>
            </a:r>
            <a:r>
              <a:rPr lang="en-US" sz="1600" dirty="0" err="1"/>
              <a:t>ta’lim</a:t>
            </a:r>
            <a:r>
              <a:rPr lang="en-US" sz="1600" dirty="0"/>
              <a:t> </a:t>
            </a:r>
            <a:r>
              <a:rPr lang="en-US" sz="1600" dirty="0" err="1"/>
              <a:t>bozorining</a:t>
            </a:r>
            <a:r>
              <a:rPr lang="en-US" sz="1600" dirty="0"/>
              <a:t> </a:t>
            </a:r>
            <a:r>
              <a:rPr lang="en-US" sz="1600" dirty="0" err="1"/>
              <a:t>yuqori</a:t>
            </a:r>
            <a:r>
              <a:rPr lang="en-US" sz="1600" dirty="0"/>
              <a:t> </a:t>
            </a:r>
            <a:r>
              <a:rPr lang="en-US" sz="1600" dirty="0" err="1"/>
              <a:t>darajasi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616952" y="2514600"/>
            <a:ext cx="4339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 </a:t>
            </a:r>
            <a:r>
              <a:rPr lang="en-US" sz="34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mlrd</a:t>
            </a: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3600" b="1" dirty="0">
                <a:solidFill>
                  <a:srgbClr val="FF6B6B"/>
                </a:solidFill>
              </a:rPr>
              <a:t>264 </a:t>
            </a:r>
            <a:r>
              <a:rPr lang="en-US" sz="3600" b="1" dirty="0" err="1">
                <a:solidFill>
                  <a:srgbClr val="FF6B6B"/>
                </a:solidFill>
              </a:rPr>
              <a:t>mln</a:t>
            </a:r>
            <a:r>
              <a:rPr lang="en-US" sz="3600" b="1" dirty="0">
                <a:solidFill>
                  <a:srgbClr val="FF6B6B"/>
                </a:solidFill>
              </a:rPr>
              <a:t> </a:t>
            </a:r>
            <a:r>
              <a:rPr lang="en-US" sz="3600" b="1" dirty="0" err="1">
                <a:solidFill>
                  <a:srgbClr val="FF6B6B"/>
                </a:solidFill>
              </a:rPr>
              <a:t>talaba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626096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616952" y="4350460"/>
            <a:ext cx="4339844" cy="61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 </a:t>
            </a:r>
            <a:r>
              <a:rPr lang="en-US" sz="34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mlrd</a:t>
            </a: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3600" b="1" dirty="0">
                <a:solidFill>
                  <a:srgbClr val="F6C453"/>
                </a:solidFill>
              </a:rPr>
              <a:t>1,43 </a:t>
            </a:r>
            <a:r>
              <a:rPr lang="en-US" sz="3600" b="1" dirty="0" err="1">
                <a:solidFill>
                  <a:srgbClr val="F6C453"/>
                </a:solidFill>
              </a:rPr>
              <a:t>mln</a:t>
            </a:r>
            <a:r>
              <a:rPr lang="en-US" sz="3600" b="1" dirty="0">
                <a:solidFill>
                  <a:srgbClr val="F6C453"/>
                </a:solidFill>
              </a:rPr>
              <a:t> </a:t>
            </a:r>
            <a:r>
              <a:rPr lang="en-US" sz="3600" b="1" dirty="0" err="1">
                <a:solidFill>
                  <a:srgbClr val="F6C453"/>
                </a:solidFill>
              </a:rPr>
              <a:t>talaba</a:t>
            </a:r>
            <a:r>
              <a:rPr lang="en-US" sz="3600" b="1" dirty="0">
                <a:solidFill>
                  <a:srgbClr val="F6C453"/>
                </a:solidFill>
              </a:rPr>
              <a:t> + 222 OTM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626096" y="515366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616952" y="6031489"/>
            <a:ext cx="4178808" cy="61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 </a:t>
            </a:r>
            <a:r>
              <a:rPr lang="en-US" sz="34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mln</a:t>
            </a: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3600" b="1" dirty="0" err="1">
                <a:solidFill>
                  <a:srgbClr val="22C55E"/>
                </a:solidFill>
              </a:rPr>
              <a:t>dastlabki</a:t>
            </a:r>
            <a:r>
              <a:rPr lang="en-US" sz="3600" b="1" dirty="0">
                <a:solidFill>
                  <a:srgbClr val="22C55E"/>
                </a:solidFill>
              </a:rPr>
              <a:t> 20 OTM / 200 </a:t>
            </a:r>
            <a:r>
              <a:rPr lang="en-US" sz="3600" b="1" dirty="0" err="1">
                <a:solidFill>
                  <a:srgbClr val="22C55E"/>
                </a:solidFill>
              </a:rPr>
              <a:t>ming</a:t>
            </a:r>
            <a:r>
              <a:rPr lang="en-US" sz="3600" b="1" dirty="0">
                <a:solidFill>
                  <a:srgbClr val="22C55E"/>
                </a:solidFill>
              </a:rPr>
              <a:t> </a:t>
            </a:r>
            <a:r>
              <a:rPr lang="en-US" sz="3600" b="1" dirty="0" err="1">
                <a:solidFill>
                  <a:srgbClr val="22C55E"/>
                </a:solidFill>
              </a:rPr>
              <a:t>talaba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5EC1552-A12A-4E91-A6EC-81EE980595D1}"/>
              </a:ext>
            </a:extLst>
          </p:cNvPr>
          <p:cNvSpPr/>
          <p:nvPr/>
        </p:nvSpPr>
        <p:spPr>
          <a:xfrm>
            <a:off x="8299196" y="3553859"/>
            <a:ext cx="3657600" cy="81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Serviceable Available Market - </a:t>
            </a:r>
            <a:r>
              <a:rPr lang="en-US" sz="1600" dirty="0" err="1"/>
              <a:t>Umumiy</a:t>
            </a:r>
            <a:r>
              <a:rPr lang="en-US" sz="1600" dirty="0"/>
              <a:t> </a:t>
            </a:r>
            <a:r>
              <a:rPr lang="en-US" sz="1600" dirty="0" err="1"/>
              <a:t>mavjud</a:t>
            </a:r>
            <a:r>
              <a:rPr lang="en-US" sz="1600" dirty="0"/>
              <a:t> </a:t>
            </a:r>
            <a:r>
              <a:rPr lang="en-US" sz="1600" dirty="0" err="1"/>
              <a:t>bozor</a:t>
            </a:r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r>
              <a:rPr lang="en-US" sz="1600" dirty="0" err="1"/>
              <a:t>O‘zbekiston</a:t>
            </a:r>
            <a:r>
              <a:rPr lang="en-US" sz="1600" dirty="0"/>
              <a:t> </a:t>
            </a:r>
            <a:r>
              <a:rPr lang="en-US" sz="1600" dirty="0" err="1"/>
              <a:t>bozoridagi</a:t>
            </a:r>
            <a:r>
              <a:rPr lang="en-US" sz="1600" dirty="0"/>
              <a:t> </a:t>
            </a:r>
            <a:r>
              <a:rPr lang="en-US" sz="1600" dirty="0" err="1"/>
              <a:t>aniq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yaqin</a:t>
            </a:r>
            <a:r>
              <a:rPr lang="en-US" sz="1600" dirty="0"/>
              <a:t> segment: </a:t>
            </a:r>
            <a:r>
              <a:rPr lang="en-US" sz="1600" dirty="0" err="1"/>
              <a:t>universitetlar</a:t>
            </a:r>
            <a:r>
              <a:rPr lang="en-US" sz="1600" dirty="0"/>
              <a:t>, </a:t>
            </a:r>
            <a:r>
              <a:rPr lang="en-US" sz="1600" dirty="0" err="1"/>
              <a:t>metodistlar</a:t>
            </a:r>
            <a:r>
              <a:rPr lang="en-US" sz="1600" dirty="0"/>
              <a:t>, </a:t>
            </a:r>
            <a:r>
              <a:rPr lang="en-US" sz="1600" dirty="0" err="1"/>
              <a:t>dekanatlar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zamonaviy</a:t>
            </a:r>
            <a:r>
              <a:rPr lang="en-US" sz="1600" dirty="0"/>
              <a:t> </a:t>
            </a:r>
            <a:r>
              <a:rPr lang="en-US" sz="1600" dirty="0" err="1"/>
              <a:t>kurslarni</a:t>
            </a:r>
            <a:r>
              <a:rPr lang="en-US" sz="1600" dirty="0"/>
              <a:t> </a:t>
            </a:r>
            <a:r>
              <a:rPr lang="en-US" sz="1600" dirty="0" err="1"/>
              <a:t>tez</a:t>
            </a:r>
            <a:r>
              <a:rPr lang="en-US" sz="1600" dirty="0"/>
              <a:t> </a:t>
            </a:r>
            <a:r>
              <a:rPr lang="en-US" sz="1600" dirty="0" err="1"/>
              <a:t>ishga</a:t>
            </a:r>
            <a:r>
              <a:rPr lang="en-US" sz="1600" dirty="0"/>
              <a:t> </a:t>
            </a:r>
            <a:r>
              <a:rPr lang="en-US" sz="1600" dirty="0" err="1"/>
              <a:t>tushirmoqchi</a:t>
            </a:r>
            <a:r>
              <a:rPr lang="en-US" sz="1600" dirty="0"/>
              <a:t> </a:t>
            </a:r>
            <a:r>
              <a:rPr lang="en-US" sz="1600" dirty="0" err="1"/>
              <a:t>bo‘lgan</a:t>
            </a:r>
            <a:r>
              <a:rPr lang="en-US" sz="1600" dirty="0"/>
              <a:t> </a:t>
            </a:r>
            <a:r>
              <a:rPr lang="en-US" sz="1600" dirty="0" err="1"/>
              <a:t>muassasalar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23F7D18-0484-4FC8-98CF-6D34482AD80B}"/>
              </a:ext>
            </a:extLst>
          </p:cNvPr>
          <p:cNvSpPr/>
          <p:nvPr/>
        </p:nvSpPr>
        <p:spPr>
          <a:xfrm>
            <a:off x="8299196" y="5326762"/>
            <a:ext cx="3657600" cy="81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600" dirty="0"/>
              <a:t>Serviceable Obtainable Market - </a:t>
            </a:r>
            <a:r>
              <a:rPr lang="en-US" sz="1600" dirty="0" err="1"/>
              <a:t>Umumiy</a:t>
            </a:r>
            <a:r>
              <a:rPr lang="en-US" sz="1600" dirty="0"/>
              <a:t> </a:t>
            </a:r>
            <a:r>
              <a:rPr lang="en-US" sz="1600" dirty="0" err="1"/>
              <a:t>mavjud</a:t>
            </a:r>
            <a:r>
              <a:rPr lang="en-US" sz="1600" dirty="0"/>
              <a:t> </a:t>
            </a:r>
            <a:r>
              <a:rPr lang="en-US" sz="1600" dirty="0" err="1"/>
              <a:t>bozor</a:t>
            </a:r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r>
              <a:rPr lang="en-US" sz="1600" dirty="0" err="1"/>
              <a:t>Birinchi</a:t>
            </a:r>
            <a:r>
              <a:rPr lang="en-US" sz="1600" dirty="0"/>
              <a:t> </a:t>
            </a:r>
            <a:r>
              <a:rPr lang="en-US" sz="1600" dirty="0" err="1"/>
              <a:t>bosqichda</a:t>
            </a:r>
            <a:r>
              <a:rPr lang="en-US" sz="1600" dirty="0"/>
              <a:t> real </a:t>
            </a:r>
            <a:r>
              <a:rPr lang="en-US" sz="1600" dirty="0" err="1"/>
              <a:t>erishish</a:t>
            </a:r>
            <a:r>
              <a:rPr lang="en-US" sz="1600" dirty="0"/>
              <a:t> </a:t>
            </a:r>
            <a:r>
              <a:rPr lang="en-US" sz="1600" dirty="0" err="1"/>
              <a:t>mumkin</a:t>
            </a:r>
            <a:r>
              <a:rPr lang="en-US" sz="1600" dirty="0"/>
              <a:t> </a:t>
            </a:r>
            <a:r>
              <a:rPr lang="en-US" sz="1600" dirty="0" err="1"/>
              <a:t>bo‘lgan</a:t>
            </a:r>
            <a:r>
              <a:rPr lang="en-US" sz="1600" dirty="0"/>
              <a:t> segment: pilot </a:t>
            </a:r>
            <a:r>
              <a:rPr lang="en-US" sz="1600" dirty="0" err="1"/>
              <a:t>universitetlar</a:t>
            </a:r>
            <a:r>
              <a:rPr lang="en-US" sz="1600" dirty="0"/>
              <a:t>, STEM </a:t>
            </a:r>
            <a:r>
              <a:rPr lang="en-US" sz="1600" dirty="0" err="1"/>
              <a:t>yo‘nalishlari</a:t>
            </a:r>
            <a:r>
              <a:rPr lang="en-US" sz="1600" dirty="0"/>
              <a:t>, </a:t>
            </a:r>
            <a:r>
              <a:rPr lang="en-US" sz="1600" dirty="0" err="1"/>
              <a:t>ichki</a:t>
            </a:r>
            <a:r>
              <a:rPr lang="en-US" sz="1600" dirty="0"/>
              <a:t> </a:t>
            </a:r>
            <a:r>
              <a:rPr lang="en-US" sz="1600" dirty="0" err="1"/>
              <a:t>ta’lim</a:t>
            </a:r>
            <a:r>
              <a:rPr lang="en-US" sz="1600" dirty="0"/>
              <a:t> </a:t>
            </a:r>
            <a:r>
              <a:rPr lang="en-US" sz="1600" dirty="0" err="1"/>
              <a:t>markazlari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proof-of-learning ga </a:t>
            </a:r>
            <a:r>
              <a:rPr lang="en-US" sz="1600" dirty="0" err="1"/>
              <a:t>ehtiyoji</a:t>
            </a:r>
            <a:r>
              <a:rPr lang="en-US" sz="1600" dirty="0"/>
              <a:t> </a:t>
            </a:r>
            <a:r>
              <a:rPr lang="en-US" sz="1600" dirty="0" err="1"/>
              <a:t>yuqori</a:t>
            </a:r>
            <a:r>
              <a:rPr lang="en-US" sz="1600" dirty="0"/>
              <a:t> </a:t>
            </a:r>
            <a:r>
              <a:rPr lang="en-US" sz="1600" dirty="0" err="1"/>
              <a:t>bo‘lgan</a:t>
            </a:r>
            <a:r>
              <a:rPr lang="en-US" sz="1600" dirty="0"/>
              <a:t> </a:t>
            </a:r>
            <a:r>
              <a:rPr lang="en-US" sz="1600" dirty="0" err="1"/>
              <a:t>dasturlar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30352"/>
            <a:ext cx="5715000" cy="7498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l"/>
            <a:r>
              <a:rPr sz="2450" b="1">
                <a:solidFill>
                  <a:srgbClr val="103D7A"/>
                </a:solidFill>
                <a:latin typeface="Arial"/>
              </a:rPr>
              <a:t>Funksiyalar: Bepul va Premium</a:t>
            </a:r>
          </a:p>
        </p:txBody>
      </p:sp>
      <p:pic>
        <p:nvPicPr>
          <p:cNvPr id="3" name="Picture 2" descr="bilimai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228600"/>
            <a:ext cx="917810" cy="96012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863840" y="45720"/>
            <a:ext cx="640080" cy="685800"/>
          </a:xfrm>
          <a:prstGeom prst="line">
            <a:avLst/>
          </a:prstGeom>
          <a:ln w="1651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503920" y="0"/>
            <a:ext cx="640080" cy="731520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503920" y="256032"/>
            <a:ext cx="1645920" cy="475488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03920" y="731520"/>
            <a:ext cx="1005840" cy="228600"/>
          </a:xfrm>
          <a:prstGeom prst="line">
            <a:avLst/>
          </a:prstGeom>
          <a:ln w="1651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509760" y="256032"/>
            <a:ext cx="640080" cy="704088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808975" y="-9143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89136" y="-54864"/>
            <a:ext cx="109728" cy="109728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49056" y="676656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4976" y="201168"/>
            <a:ext cx="109728" cy="109728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54896" y="905256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91440" y="4754880"/>
            <a:ext cx="502920" cy="86868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" y="4754880"/>
            <a:ext cx="822960" cy="64008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20" y="5394960"/>
            <a:ext cx="822960" cy="50292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" y="4754880"/>
            <a:ext cx="2697480" cy="50292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97480" y="5257800"/>
            <a:ext cx="594360" cy="123444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20" y="5257800"/>
            <a:ext cx="1874520" cy="137160"/>
          </a:xfrm>
          <a:prstGeom prst="line">
            <a:avLst/>
          </a:prstGeom>
          <a:ln w="1524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1148" y="557326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4068" y="470458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67028" y="534466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189988" y="584758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241548" y="520750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647188" y="644194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1463040"/>
            <a:ext cx="5248656" cy="1389888"/>
          </a:xfrm>
          <a:prstGeom prst="roundRect">
            <a:avLst/>
          </a:prstGeom>
          <a:solidFill>
            <a:srgbClr val="EEFCFB"/>
          </a:solidFill>
          <a:ln w="12700">
            <a:solidFill>
              <a:srgbClr val="16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77824" y="1572768"/>
            <a:ext cx="1143000" cy="365760"/>
          </a:xfrm>
          <a:prstGeom prst="roundRect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Bepul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95681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10" b="1">
                <a:solidFill>
                  <a:srgbClr val="103D7A"/>
                </a:solidFill>
                <a:latin typeface="Arial"/>
              </a:rPr>
              <a:t>Boshlash va sinab ko‘rish uchun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231136"/>
            <a:ext cx="4864608" cy="5486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0"/>
              </a:spcAft>
            </a:pPr>
            <a:r>
              <a:rPr sz="1110" dirty="0">
                <a:solidFill>
                  <a:srgbClr val="1F2937"/>
                </a:solidFill>
                <a:latin typeface="Arial"/>
              </a:rPr>
              <a:t>1 demo </a:t>
            </a:r>
            <a:r>
              <a:rPr sz="1110" dirty="0" err="1">
                <a:solidFill>
                  <a:srgbClr val="1F2937"/>
                </a:solidFill>
                <a:latin typeface="Arial"/>
              </a:rPr>
              <a:t>kurs</a:t>
            </a:r>
            <a:endParaRPr sz="111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0"/>
              </a:spcAft>
            </a:pPr>
            <a:r>
              <a:rPr sz="1110" dirty="0">
                <a:solidFill>
                  <a:srgbClr val="1F2937"/>
                </a:solidFill>
                <a:latin typeface="Arial"/>
              </a:rPr>
              <a:t>AI Tutor: 5 </a:t>
            </a:r>
            <a:r>
              <a:rPr sz="1110" dirty="0" err="1">
                <a:solidFill>
                  <a:srgbClr val="1F2937"/>
                </a:solidFill>
                <a:latin typeface="Arial"/>
              </a:rPr>
              <a:t>savol</a:t>
            </a:r>
            <a:r>
              <a:rPr sz="1110" dirty="0">
                <a:solidFill>
                  <a:srgbClr val="1F2937"/>
                </a:solidFill>
                <a:latin typeface="Arial"/>
              </a:rPr>
              <a:t> / </a:t>
            </a:r>
            <a:r>
              <a:rPr sz="1110" dirty="0" err="1">
                <a:solidFill>
                  <a:srgbClr val="1F2937"/>
                </a:solidFill>
                <a:latin typeface="Arial"/>
              </a:rPr>
              <a:t>kun</a:t>
            </a:r>
            <a:endParaRPr sz="111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0"/>
              </a:spcAft>
            </a:pPr>
            <a:r>
              <a:rPr sz="1110" dirty="0" err="1">
                <a:solidFill>
                  <a:srgbClr val="1F2937"/>
                </a:solidFill>
                <a:latin typeface="Arial"/>
              </a:rPr>
              <a:t>Asosiy</a:t>
            </a:r>
            <a:r>
              <a:rPr sz="1110" dirty="0">
                <a:solidFill>
                  <a:srgbClr val="1F2937"/>
                </a:solidFill>
                <a:latin typeface="Arial"/>
              </a:rPr>
              <a:t>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463040"/>
            <a:ext cx="5248656" cy="1389888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1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64224" y="1572768"/>
            <a:ext cx="1508760" cy="365760"/>
          </a:xfrm>
          <a:prstGeom prst="roundRect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Premium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95681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10" b="1">
                <a:solidFill>
                  <a:srgbClr val="103D7A"/>
                </a:solidFill>
                <a:latin typeface="Arial"/>
              </a:rPr>
              <a:t>To‘liq o‘qitish va isbotlash rejimi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231136"/>
            <a:ext cx="4864608" cy="5486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0"/>
              </a:spcAft>
            </a:pPr>
            <a:r>
              <a:rPr sz="1110">
                <a:solidFill>
                  <a:srgbClr val="1F2937"/>
                </a:solidFill>
                <a:latin typeface="Arial"/>
              </a:rPr>
              <a:t>Cheksiz kurslar</a:t>
            </a:r>
          </a:p>
          <a:p>
            <a:pPr>
              <a:spcAft>
                <a:spcPts val="0"/>
              </a:spcAft>
            </a:pPr>
            <a:r>
              <a:rPr sz="1110">
                <a:solidFill>
                  <a:srgbClr val="1F2937"/>
                </a:solidFill>
                <a:latin typeface="Arial"/>
              </a:rPr>
              <a:t>SHOGIRD AI + Bilim MRI</a:t>
            </a:r>
          </a:p>
          <a:p>
            <a:pPr>
              <a:spcAft>
                <a:spcPts val="0"/>
              </a:spcAft>
            </a:pPr>
            <a:r>
              <a:rPr sz="1110">
                <a:solidFill>
                  <a:srgbClr val="1F2937"/>
                </a:solidFill>
                <a:latin typeface="Arial"/>
              </a:rPr>
              <a:t>Teacher / Parent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54680"/>
            <a:ext cx="3703320" cy="4206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600" b="1">
                <a:solidFill>
                  <a:srgbClr val="103D7A"/>
                </a:solidFill>
                <a:latin typeface="Arial"/>
              </a:rPr>
              <a:t>Funksiya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154680"/>
            <a:ext cx="3063240" cy="4206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600" b="1">
                <a:solidFill>
                  <a:srgbClr val="16B4C3"/>
                </a:solidFill>
                <a:latin typeface="Arial"/>
              </a:rPr>
              <a:t>Bepul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33488" y="3154680"/>
            <a:ext cx="4224528" cy="42062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600" b="1">
                <a:solidFill>
                  <a:srgbClr val="103D7A"/>
                </a:solidFill>
                <a:latin typeface="Arial"/>
              </a:rPr>
              <a:t>Premium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575304"/>
            <a:ext cx="3703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AI kurs yaratish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0248" y="3575304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1 demo kurs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3575304"/>
            <a:ext cx="42245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Cheksiz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995928"/>
            <a:ext cx="370332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Dars kontenti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3995928"/>
            <a:ext cx="306324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Qisqa preview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3488" y="3995928"/>
            <a:ext cx="4224528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To‘liq va chuqur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416552"/>
            <a:ext cx="3703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AI Tutor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0248" y="4416552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5 savol / kun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416552"/>
            <a:ext cx="42245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Cheksiz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37176"/>
            <a:ext cx="370332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SHOGIRD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0248" y="4837176"/>
            <a:ext cx="306324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1 demo sessiya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33488" y="4837176"/>
            <a:ext cx="4224528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To‘liq proof sessiyalar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257800"/>
            <a:ext cx="3703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Bilim MRI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0248" y="5257800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1 demo xarita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5257800"/>
            <a:ext cx="42245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To‘liq concept graph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678424"/>
            <a:ext cx="370332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Teacher / Parent dashboard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0248" y="5678424"/>
            <a:ext cx="3063240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Asosiy progress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33488" y="5678424"/>
            <a:ext cx="4224528" cy="420624"/>
          </a:xfrm>
          <a:prstGeom prst="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1">
                <a:solidFill>
                  <a:srgbClr val="103D7A"/>
                </a:solidFill>
                <a:latin typeface="Arial"/>
              </a:rPr>
              <a:t>To‘liq analytics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6099048"/>
            <a:ext cx="3703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sz="1310" b="0">
                <a:solidFill>
                  <a:srgbClr val="1F2937"/>
                </a:solidFill>
                <a:latin typeface="Arial"/>
              </a:rPr>
              <a:t>Eksport va ulashish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0248" y="6099048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Yo‘q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33488" y="6099048"/>
            <a:ext cx="422452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310" b="0">
                <a:solidFill>
                  <a:srgbClr val="1F2937"/>
                </a:solidFill>
                <a:latin typeface="Arial"/>
              </a:rPr>
              <a:t>PDF / HTML /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30352"/>
            <a:ext cx="5715000" cy="74980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ctr"/>
          <a:lstStyle/>
          <a:p>
            <a:pPr algn="l"/>
            <a:r>
              <a:rPr sz="2450" b="1">
                <a:solidFill>
                  <a:srgbClr val="103D7A"/>
                </a:solidFill>
                <a:latin typeface="Arial"/>
              </a:rPr>
              <a:t>Pilot auditoriya va tariflar</a:t>
            </a:r>
          </a:p>
        </p:txBody>
      </p:sp>
      <p:pic>
        <p:nvPicPr>
          <p:cNvPr id="3" name="Picture 2" descr="bilimai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228600"/>
            <a:ext cx="917810" cy="96012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863840" y="45720"/>
            <a:ext cx="640080" cy="685800"/>
          </a:xfrm>
          <a:prstGeom prst="line">
            <a:avLst/>
          </a:prstGeom>
          <a:ln w="1651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503920" y="0"/>
            <a:ext cx="640080" cy="731520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503920" y="256032"/>
            <a:ext cx="1645920" cy="475488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03920" y="731520"/>
            <a:ext cx="1005840" cy="228600"/>
          </a:xfrm>
          <a:prstGeom prst="line">
            <a:avLst/>
          </a:prstGeom>
          <a:ln w="1651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509760" y="256032"/>
            <a:ext cx="640080" cy="704088"/>
          </a:xfrm>
          <a:prstGeom prst="line">
            <a:avLst/>
          </a:prstGeom>
          <a:ln w="1651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808975" y="-9143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89136" y="-54864"/>
            <a:ext cx="109728" cy="109728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49056" y="676656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94976" y="201168"/>
            <a:ext cx="109728" cy="109728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54896" y="905256"/>
            <a:ext cx="109728" cy="109728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91440" y="4754880"/>
            <a:ext cx="502920" cy="86868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" y="4754880"/>
            <a:ext cx="822960" cy="64008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20" y="5394960"/>
            <a:ext cx="822960" cy="50292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" y="4754880"/>
            <a:ext cx="2697480" cy="50292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97480" y="5257800"/>
            <a:ext cx="594360" cy="1234440"/>
          </a:xfrm>
          <a:prstGeom prst="line">
            <a:avLst/>
          </a:prstGeom>
          <a:ln w="15240">
            <a:solidFill>
              <a:srgbClr val="103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320" y="5257800"/>
            <a:ext cx="1874520" cy="137160"/>
          </a:xfrm>
          <a:prstGeom prst="line">
            <a:avLst/>
          </a:prstGeom>
          <a:ln w="15240">
            <a:solidFill>
              <a:srgbClr val="16B4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1148" y="557326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4068" y="470458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67028" y="534466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189988" y="584758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241548" y="5207508"/>
            <a:ext cx="100584" cy="100584"/>
          </a:xfrm>
          <a:prstGeom prst="ellipse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647188" y="6441948"/>
            <a:ext cx="100584" cy="100584"/>
          </a:xfrm>
          <a:prstGeom prst="ellipse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84280" y="641908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1417320"/>
            <a:ext cx="3767328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1627632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3D7A"/>
                </a:solidFill>
                <a:latin typeface="Arial"/>
              </a:rPr>
              <a:t>Pilot foydalanuvchi tarkibi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07568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 dirty="0" err="1">
                <a:solidFill>
                  <a:srgbClr val="1F2937"/>
                </a:solidFill>
                <a:latin typeface="Arial"/>
              </a:rPr>
              <a:t>Talabalar</a:t>
            </a:r>
            <a:endParaRPr sz="152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32688" y="2359152"/>
            <a:ext cx="2331720" cy="256032"/>
          </a:xfrm>
          <a:prstGeom prst="roundRect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2688" y="2359152"/>
            <a:ext cx="1399032" cy="256032"/>
          </a:xfrm>
          <a:prstGeom prst="roundRect">
            <a:avLst/>
          </a:prstGeom>
          <a:solidFill>
            <a:srgbClr val="16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19856" y="2267712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B4C3"/>
                </a:solidFill>
                <a:latin typeface="Arial"/>
              </a:rPr>
              <a:t>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953512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1F2937"/>
                </a:solidFill>
                <a:latin typeface="Arial"/>
              </a:rPr>
              <a:t>O‘qituvchilar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3236976"/>
            <a:ext cx="2331720" cy="256032"/>
          </a:xfrm>
          <a:prstGeom prst="roundRect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2688" y="3236976"/>
            <a:ext cx="582930" cy="256032"/>
          </a:xfrm>
          <a:prstGeom prst="roundRect">
            <a:avLst/>
          </a:prstGeom>
          <a:solidFill>
            <a:srgbClr val="1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19856" y="314553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3D7A"/>
                </a:solidFill>
                <a:latin typeface="Arial"/>
              </a:rP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831335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1F2937"/>
                </a:solidFill>
                <a:latin typeface="Arial"/>
              </a:rPr>
              <a:t>Ota-onalar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" y="4114800"/>
            <a:ext cx="2331720" cy="256032"/>
          </a:xfrm>
          <a:prstGeom prst="roundRect">
            <a:avLst/>
          </a:prstGeom>
          <a:solidFill>
            <a:srgbClr val="E9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2688" y="4114800"/>
            <a:ext cx="349758" cy="256032"/>
          </a:xfrm>
          <a:prstGeom prst="roundRect">
            <a:avLst/>
          </a:prstGeom>
          <a:solidFill>
            <a:srgbClr val="06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19856" y="4023359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B686"/>
                </a:solidFill>
                <a:latin typeface="Arial"/>
              </a:rPr>
              <a:t>15%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645773"/>
            <a:ext cx="3319272" cy="1188720"/>
          </a:xfrm>
          <a:prstGeom prst="roundRect">
            <a:avLst/>
          </a:prstGeom>
          <a:solidFill>
            <a:srgbClr val="E8FCFE"/>
          </a:solidFill>
          <a:ln w="12700">
            <a:solidFill>
              <a:srgbClr val="16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" y="4654917"/>
            <a:ext cx="29626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B4C3"/>
                </a:solidFill>
                <a:latin typeface="Arial"/>
              </a:rPr>
              <a:t>O‘qituvchilar — 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4956669"/>
            <a:ext cx="29077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 dirty="0" err="1">
                <a:solidFill>
                  <a:srgbClr val="1F2937"/>
                </a:solidFill>
                <a:latin typeface="Arial"/>
              </a:rPr>
              <a:t>Asosiy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qiymat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yaratuvchi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segment: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kursni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ular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yaratadi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analyticsni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ular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ko‘radi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va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premiumga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eng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yuqori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ehtiyoj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10" b="0" dirty="0" err="1">
                <a:solidFill>
                  <a:srgbClr val="1F2937"/>
                </a:solidFill>
                <a:latin typeface="Arial"/>
              </a:rPr>
              <a:t>sezadi</a:t>
            </a:r>
            <a:r>
              <a:rPr sz="121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28032" y="1444752"/>
            <a:ext cx="3145536" cy="2240280"/>
          </a:xfrm>
          <a:prstGeom prst="roundRect">
            <a:avLst/>
          </a:prstGeom>
          <a:solidFill>
            <a:srgbClr val="EEFCFB"/>
          </a:solidFill>
          <a:ln w="12700">
            <a:solidFill>
              <a:srgbClr val="16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04688" y="2231235"/>
            <a:ext cx="28163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 err="1">
                <a:solidFill>
                  <a:srgbClr val="103D7A"/>
                </a:solidFill>
                <a:latin typeface="Arial"/>
              </a:rPr>
              <a:t>Oylik</a:t>
            </a:r>
            <a:r>
              <a:rPr lang="en-US" sz="1800" b="1" dirty="0">
                <a:solidFill>
                  <a:srgbClr val="103D7A"/>
                </a:solidFill>
                <a:latin typeface="Arial"/>
              </a:rPr>
              <a:t> Premium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7965" y="2775204"/>
            <a:ext cx="2816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16B4C3"/>
                </a:solidFill>
                <a:latin typeface="Arial"/>
              </a:rPr>
              <a:t>79 000 </a:t>
            </a:r>
            <a:r>
              <a:rPr sz="2300" b="1" dirty="0" err="1">
                <a:solidFill>
                  <a:srgbClr val="16B4C3"/>
                </a:solidFill>
                <a:latin typeface="Arial"/>
              </a:rPr>
              <a:t>so‘m</a:t>
            </a:r>
            <a:r>
              <a:rPr sz="2300" b="1" dirty="0">
                <a:solidFill>
                  <a:srgbClr val="16B4C3"/>
                </a:solidFill>
                <a:latin typeface="Arial"/>
              </a:rPr>
              <a:t> / oy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11312" y="1444752"/>
            <a:ext cx="3328416" cy="224028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1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72016" y="2273941"/>
            <a:ext cx="120700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03D7A"/>
                </a:solidFill>
                <a:latin typeface="Arial"/>
              </a:rPr>
              <a:t>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5994" y="2771289"/>
            <a:ext cx="2372824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300" b="1" dirty="0" err="1">
                <a:solidFill>
                  <a:srgbClr val="103D7A"/>
                </a:solidFill>
                <a:latin typeface="Arial"/>
              </a:rPr>
              <a:t>Foydaning</a:t>
            </a:r>
            <a:r>
              <a:rPr lang="en-US" sz="2300" b="1" dirty="0">
                <a:solidFill>
                  <a:srgbClr val="103D7A"/>
                </a:solidFill>
                <a:latin typeface="Arial"/>
              </a:rPr>
              <a:t> 20%</a:t>
            </a:r>
            <a:endParaRPr sz="2300" b="1" dirty="0">
              <a:solidFill>
                <a:srgbClr val="103D7A"/>
              </a:solidFill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828032" y="3913632"/>
            <a:ext cx="6711696" cy="1993392"/>
          </a:xfrm>
          <a:prstGeom prst="roundRect">
            <a:avLst/>
          </a:prstGeom>
          <a:solidFill>
            <a:srgbClr val="EEFCFB"/>
          </a:solidFill>
          <a:ln w="12700">
            <a:solidFill>
              <a:srgbClr val="16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92624" y="4059936"/>
            <a:ext cx="63825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03D7A"/>
                </a:solidFill>
                <a:latin typeface="Arial"/>
              </a:rPr>
              <a:t>Korporativ tarif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92624" y="4398264"/>
            <a:ext cx="63825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6B4C3"/>
                </a:solidFill>
                <a:latin typeface="Arial"/>
              </a:rPr>
              <a:t>9.9 mln so‘mdan / yil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92624" y="4791456"/>
            <a:ext cx="6437376" cy="10058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0"/>
              </a:spcAft>
            </a:pPr>
            <a:r>
              <a:rPr sz="1260">
                <a:solidFill>
                  <a:srgbClr val="1F2937"/>
                </a:solidFill>
                <a:latin typeface="Arial"/>
              </a:rPr>
              <a:t>20 tagacha o‘qituvchi</a:t>
            </a:r>
          </a:p>
          <a:p>
            <a:pPr>
              <a:spcAft>
                <a:spcPts val="0"/>
              </a:spcAft>
            </a:pPr>
            <a:r>
              <a:rPr sz="1260">
                <a:solidFill>
                  <a:srgbClr val="1F2937"/>
                </a:solidFill>
                <a:latin typeface="Arial"/>
              </a:rPr>
              <a:t>500 tagacha talaba</a:t>
            </a:r>
          </a:p>
          <a:p>
            <a:pPr>
              <a:spcAft>
                <a:spcPts val="0"/>
              </a:spcAft>
            </a:pPr>
            <a:r>
              <a:rPr sz="1260">
                <a:solidFill>
                  <a:srgbClr val="1F2937"/>
                </a:solidFill>
                <a:latin typeface="Arial"/>
              </a:rPr>
              <a:t>Admin panel va umumiy analytics</a:t>
            </a:r>
          </a:p>
          <a:p>
            <a:pPr>
              <a:spcAft>
                <a:spcPts val="0"/>
              </a:spcAft>
            </a:pPr>
            <a:r>
              <a:rPr sz="1260">
                <a:solidFill>
                  <a:srgbClr val="1F2937"/>
                </a:solidFill>
                <a:latin typeface="Arial"/>
              </a:rPr>
              <a:t>Onboarding va LMS integratsiya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689736-2BB8-4983-A96C-34171E1455AA}"/>
              </a:ext>
            </a:extLst>
          </p:cNvPr>
          <p:cNvSpPr txBox="1"/>
          <p:nvPr/>
        </p:nvSpPr>
        <p:spPr>
          <a:xfrm>
            <a:off x="5257800" y="1662422"/>
            <a:ext cx="29992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800" b="1" dirty="0">
                <a:solidFill>
                  <a:srgbClr val="103D7A"/>
                </a:solidFill>
                <a:latin typeface="Arial"/>
              </a:rPr>
              <a:t>TALABA OBUNASI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FFAACF-EFBF-4BAD-8115-FAF446F88176}"/>
              </a:ext>
            </a:extLst>
          </p:cNvPr>
          <p:cNvSpPr txBox="1"/>
          <p:nvPr/>
        </p:nvSpPr>
        <p:spPr>
          <a:xfrm>
            <a:off x="8529861" y="1717286"/>
            <a:ext cx="29992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103D7A"/>
                </a:solidFill>
                <a:latin typeface="Arial"/>
              </a:rPr>
              <a:t>O’QITUVCHI</a:t>
            </a:r>
            <a:r>
              <a:rPr lang="en-US" sz="1800" b="1" dirty="0">
                <a:solidFill>
                  <a:srgbClr val="103D7A"/>
                </a:solidFill>
                <a:latin typeface="Arial"/>
              </a:rPr>
              <a:t> OBUNASI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1B5B1FE8-ECD5-4AD2-BACA-3A9BDF88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30352"/>
            <a:ext cx="6309360" cy="548640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6656" y="5669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Bizning yechim. Nega aynan biz?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2212848" y="1856232"/>
            <a:ext cx="3401568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59152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SHOGIRD 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368296" y="223113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AI’ni o‘qitib, mavzuni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haqiqatan tushunganingizni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isbotlaysiz.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882128" y="1856232"/>
            <a:ext cx="316382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MRI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183880" y="22311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Bahodan ko‘ra ko‘proq narsani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ko‘rsatadigan shaxsiy 3D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xaritasi.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713232" y="3730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46320" y="36576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BilimAI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3712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An’anaviy</a:t>
            </a: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LMS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034272" y="3712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/>
              <a:t>Coursera / </a:t>
            </a:r>
            <a:r>
              <a:rPr lang="en-US" sz="1800" b="1" dirty="0" err="1"/>
              <a:t>NotebookLM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3232" y="4224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 err="1"/>
              <a:t>Narx</a:t>
            </a:r>
            <a:r>
              <a:rPr lang="en-US" sz="1800" dirty="0"/>
              <a:t> / </a:t>
            </a:r>
            <a:r>
              <a:rPr lang="en-US" sz="1800" dirty="0" err="1"/>
              <a:t>joriy</a:t>
            </a:r>
            <a:r>
              <a:rPr lang="en-US" sz="1800" dirty="0"/>
              <a:t> </a:t>
            </a:r>
            <a:r>
              <a:rPr lang="en-US" sz="1800" dirty="0" err="1"/>
              <a:t>etish</a:t>
            </a:r>
            <a:r>
              <a:rPr lang="en-US" sz="1800" dirty="0"/>
              <a:t> </a:t>
            </a:r>
            <a:r>
              <a:rPr lang="en-US" sz="1800" dirty="0" err="1"/>
              <a:t>qulayligi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" y="47640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 err="1"/>
              <a:t>Filedan</a:t>
            </a:r>
            <a:r>
              <a:rPr lang="en-US" sz="1800" dirty="0"/>
              <a:t> </a:t>
            </a:r>
            <a:r>
              <a:rPr lang="en-US" sz="1800" dirty="0" err="1"/>
              <a:t>chuqur</a:t>
            </a:r>
            <a:r>
              <a:rPr lang="en-US" sz="1800" dirty="0"/>
              <a:t> </a:t>
            </a:r>
            <a:r>
              <a:rPr lang="en-US" sz="1800" dirty="0" err="1"/>
              <a:t>kurs</a:t>
            </a:r>
            <a:r>
              <a:rPr lang="en-US" sz="1800" dirty="0"/>
              <a:t> </a:t>
            </a:r>
            <a:r>
              <a:rPr lang="en-US" sz="1800" dirty="0" err="1"/>
              <a:t>yaratish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13232" y="53035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/>
              <a:t>SHOGIRD AI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bilimni</a:t>
            </a:r>
            <a:r>
              <a:rPr lang="en-US" sz="1800" dirty="0"/>
              <a:t> </a:t>
            </a:r>
            <a:r>
              <a:rPr lang="en-US" sz="1800" dirty="0" err="1"/>
              <a:t>isbotlash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3232" y="58064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dirty="0"/>
              <a:t>Teacher + Parent insight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33B0D56-37AB-4418-B56C-EA396BB47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58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MODELI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92608" y="3127248"/>
            <a:ext cx="3657600" cy="3218688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to‘laydi?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54480" y="3858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9808" y="428853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Maktablar, OTMlar,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korporativ sektor.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554480" y="5120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554126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talabalar va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mustaqil o‘rganuvchilar.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041648" y="3127248"/>
            <a:ext cx="3977640" cy="3218688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32369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Nimaga to‘laydi?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66344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obuna: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45152" y="4297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Platformaga kirish va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doimiy foydalanish.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590288" y="5102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integratsiya: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17720" y="5486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Mijozning mavjud ta’lim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tizimiga ulash.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7955280" y="3127248"/>
            <a:ext cx="3886200" cy="3218688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32369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Qanday qiymat?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8412480" y="3931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 vaqt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321040" y="43159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va bilimni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tekshirishga kamroq vaqt.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8275320" y="51206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isbotli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o‘zlashtirish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8275320" y="5632704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Talaba yoki xodim</a:t>
            </a:r>
            <a:endParaRPr lang="en-US" sz="1740" dirty="0"/>
          </a:p>
          <a:p>
            <a:pPr marL="0" indent="0" algn="ctr">
              <a:buNone/>
            </a:pPr>
            <a:r>
              <a:rPr lang="en-US" sz="1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mavzuni qay darajada tushunganini</a:t>
            </a:r>
            <a:endParaRPr lang="en-US" sz="1740" dirty="0"/>
          </a:p>
          <a:p>
            <a:pPr marL="0" indent="0" algn="ctr">
              <a:buNone/>
            </a:pPr>
            <a:r>
              <a:rPr lang="en-US" sz="1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aniqroq ko‘rsatadi.</a:t>
            </a:r>
            <a:endParaRPr lang="en-US" sz="1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6A8B81A-B4A6-4FE0-AE79-951280DC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658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Rivojlanish rejasi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04672" y="1609344"/>
            <a:ext cx="3246120" cy="1755648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17739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1078992" y="22677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ishga tushdi.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SHOGIRD AI algoritmlari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yopiq testda sinalmoqda.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3346704" y="4572000"/>
            <a:ext cx="2944368" cy="1810512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75888" y="47365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oy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675888" y="526694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MRI ishga tushadi.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ta </a:t>
            </a:r>
            <a:r>
              <a:rPr lang="en-US" sz="185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maktabda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loyihalar.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364224" y="1609344"/>
            <a:ext cx="2971800" cy="1755648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17739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yil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73952" y="2267712"/>
            <a:ext cx="2148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Barqaror monetizatsiya.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faol foydalanuvchiga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yetish.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942832" y="4572000"/>
            <a:ext cx="2788920" cy="1810512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17152" y="47365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yil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217152" y="5266944"/>
            <a:ext cx="2011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miqyoslash.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Milliy va yirik korporativ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platformalar bilan integratsiya.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AF24A45-73E9-4978-81E4-3E8E1DDF9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585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04672" y="3738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Nekboyev</a:t>
            </a:r>
            <a:r>
              <a:rPr lang="en-US" sz="2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Muhiddin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9808" y="42143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8096" y="463499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 vizioneri.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Strategiya va rivojlanishni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boshqaradi.</a:t>
            </a:r>
            <a:endParaRPr lang="en-US" sz="1610" dirty="0"/>
          </a:p>
        </p:txBody>
      </p:sp>
      <p:sp>
        <p:nvSpPr>
          <p:cNvPr id="9" name="Shape 6"/>
          <p:cNvSpPr/>
          <p:nvPr/>
        </p:nvSpPr>
        <p:spPr>
          <a:xfrm>
            <a:off x="1517904" y="565912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45336" y="57048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yil tajriba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11524" y="3738880"/>
            <a:ext cx="1758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Rustamov </a:t>
            </a: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584448" y="42143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02736" y="463499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Isbotli AI arxitektori.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SHOGIRD yadrosini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yaratadi.</a:t>
            </a:r>
            <a:endParaRPr lang="en-US" sz="1610" dirty="0"/>
          </a:p>
        </p:txBody>
      </p:sp>
      <p:sp>
        <p:nvSpPr>
          <p:cNvPr id="15" name="Shape 12"/>
          <p:cNvSpPr/>
          <p:nvPr/>
        </p:nvSpPr>
        <p:spPr>
          <a:xfrm>
            <a:off x="4352544" y="565912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57028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050" b="1" dirty="0" err="1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yil</a:t>
            </a:r>
            <a:r>
              <a:rPr lang="en-US" sz="1050" b="1" dirty="0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tajriba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7370" y="3738880"/>
            <a:ext cx="228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Abduroziqov</a:t>
            </a:r>
            <a:r>
              <a:rPr lang="en-US" sz="2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Usmonjon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394706" y="42143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412994" y="463499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O‘qitish metodologiyasi va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integratsiyalar bo‘yicha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ekspert.</a:t>
            </a:r>
            <a:endParaRPr lang="en-US" sz="1610" dirty="0"/>
          </a:p>
        </p:txBody>
      </p:sp>
      <p:sp>
        <p:nvSpPr>
          <p:cNvPr id="21" name="Shape 18"/>
          <p:cNvSpPr/>
          <p:nvPr/>
        </p:nvSpPr>
        <p:spPr>
          <a:xfrm>
            <a:off x="7162802" y="565912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90234" y="57028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yil tajriba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2392" y="37338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Satorov</a:t>
            </a:r>
            <a:r>
              <a:rPr lang="en-US" sz="2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Ramazonbek</a:t>
            </a:r>
            <a:r>
              <a:rPr lang="en-US" sz="2100" b="1" dirty="0">
                <a:solidFill>
                  <a:srgbClr val="1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177528" y="4209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Backend Developer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95816" y="462991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MRI interfeyslari va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 UX arxitektori.</a:t>
            </a:r>
            <a:endParaRPr lang="en-US" sz="1610" dirty="0"/>
          </a:p>
        </p:txBody>
      </p:sp>
      <p:sp>
        <p:nvSpPr>
          <p:cNvPr id="27" name="Shape 24"/>
          <p:cNvSpPr/>
          <p:nvPr/>
        </p:nvSpPr>
        <p:spPr>
          <a:xfrm>
            <a:off x="9945624" y="565404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73056" y="56977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yil tajriba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7496" y="620268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788</Words>
  <Application>Microsoft Office PowerPoint</Application>
  <PresentationFormat>Широкоэкранный</PresentationFormat>
  <Paragraphs>184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BilimAI - Uzbek editable presentation</dc:title>
  <dc:subject>BilimAI translated editable presentation</dc:subject>
  <dc:creator>OpenAI</dc:creator>
  <cp:lastModifiedBy>Мухиддин Некбоев</cp:lastModifiedBy>
  <cp:revision>14</cp:revision>
  <dcterms:created xsi:type="dcterms:W3CDTF">2026-04-13T08:04:15Z</dcterms:created>
  <dcterms:modified xsi:type="dcterms:W3CDTF">2026-04-13T12:07:19Z</dcterms:modified>
</cp:coreProperties>
</file>